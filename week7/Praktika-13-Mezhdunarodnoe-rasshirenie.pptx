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ontserrat SemiBold"/>
      <p:regular r:id="rId201314"/>
    </p:embeddedFont>
    <p:embeddedFont>
      <p:font typeface="Noto Sans Bold"/>
      <p:regular r:id="rId201315"/>
    </p:embeddedFont>
    <p:embeddedFont>
      <p:font typeface="Noto Sans Light"/>
      <p:regular r:id="rId201316"/>
    </p:embeddedFont>
    <p:embeddedFont>
      <p:font typeface="Noto Sans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2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2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1669161"/>
            <a:ext cx="8146846" cy="177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spc="-110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Практика №13: Международное расширение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65156" y="3741936"/>
            <a:ext cx="4073423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4" name="Text 2"/>
          <p:cNvSpPr/>
          <p:nvPr/>
        </p:nvSpPr>
        <p:spPr>
          <a:xfrm>
            <a:off x="765156" y="4091285"/>
            <a:ext cx="8146846" cy="794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450"/>
              </a:spcAft>
              <a:buNone/>
            </a:pPr>
            <a:r>
              <a:rPr lang="en-US" sz="1700" b="1" dirty="0">
                <a:solidFill>
                  <a:srgbClr val="E6D9D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Продукт:</a:t>
            </a:r>
            <a:pPr algn="l" indent="0" marL="0">
              <a:lnSpc>
                <a:spcPct val="117000"/>
              </a:lnSpc>
              <a:spcAft>
                <a:spcPts val="1450"/>
              </a:spcAft>
              <a:buNone/>
            </a:pPr>
            <a:r>
              <a:rPr lang="en-US" sz="1700" dirty="0">
                <a:solidFill>
                  <a:srgbClr val="E6D9D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Конструктор РПД с проверяемой генерацией.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E6D9D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Команда: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2 человека.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39941"/>
            <a:ext cx="10769331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Вводный: кто мы и зачем идём за рубеж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11182" y="1305322"/>
            <a:ext cx="10769331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4" name="Text 2"/>
          <p:cNvSpPr/>
          <p:nvPr/>
        </p:nvSpPr>
        <p:spPr>
          <a:xfrm>
            <a:off x="711182" y="1654671"/>
            <a:ext cx="10769331" cy="22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E6D9D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Продукт:</a:t>
            </a:r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Сервис для сборки РПД и ФОС с проверкой каждой фразы по источникам и правилам вуза.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E6D9D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Текущая ситуация (Domestic reality):</a:t>
            </a:r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Длинный цикл продаж в РФ, консервативный рынок. К моменту защиты есть [N] пилотов.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E6D9D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Идея расширения:</a:t>
            </a:r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СНГ — тот же документ, та же боль. Формат РПД существует в Беларуси, Казахстане, Кыргызстане, Узбекистане. Нормативная база своя, но структура узнаваема.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E6D9D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Архитектурное преимущество:</a:t>
            </a:r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Нормативка, шаблоны и правила — настраиваемый слой данных, а не код. Выход на новый рынок = сборка пакетов, а не переписывание продукта.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438341"/>
            <a:ext cx="11023324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Сравнение кандидатов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84185" y="1083806"/>
            <a:ext cx="11607510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E6D9D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Критерии оценки: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E6D9D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Похожесть формата, язык, размер рынка, платёжеспособность, простота расчетов, конкуренция.</a:t>
            </a:r>
            <a:endParaRPr lang="en-US" sz="14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4185" y="1525091"/>
          <a:ext cx="11023324" cy="914400"/>
        </p:xfrm>
        <a:graphic>
          <a:graphicData uri="http://schemas.openxmlformats.org/drawingml/2006/table">
            <a:tbl>
              <a:tblPr/>
              <a:tblGrid>
                <a:gridCol w="2535273"/>
                <a:gridCol w="2645503"/>
                <a:gridCol w="2755831"/>
                <a:gridCol w="3086717"/>
              </a:tblGrid>
              <a:tr h="415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BF3F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Критерий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Беларусь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BF3F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Казахстан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BF3F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Узбекистан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Формат РПД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Практически идентичный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Близкий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Близкий, но идет активная реформа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2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Язык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Русский в делопроизводстве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Гос. язык + русский (нужна двуязычность)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Узбекский + русский (нужна локализация)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Число вузов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~40–50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~130+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~160+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Бюджеты на цифровизацию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Низкие-средние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Средние-высокие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Низкие, но рынок растет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Расчеты/Юрисдикция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ЕАЭС, расчеты в рублях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ЕАЭС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Сложнее, юр. вход дороже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8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Барьер адаптации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Минимальный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Средний (язык нормативки)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Высокий (язык + реформа)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84185" y="4973836"/>
            <a:ext cx="11023225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6" name="Text 3"/>
          <p:cNvSpPr/>
          <p:nvPr/>
        </p:nvSpPr>
        <p:spPr>
          <a:xfrm>
            <a:off x="584185" y="5330170"/>
            <a:ext cx="11023324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E6D9D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Вывод: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E6D9D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Выбираем Беларусь как первый рынок (минимальная стоимость проверки гипотезы). Казахстан — вторая волна после подтверждения модели.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486689"/>
            <a:ext cx="7518212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75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Характеристика целевого рынка (Беларусь)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84185" y="1604466"/>
            <a:ext cx="7518113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4" name="Text 2"/>
          <p:cNvSpPr/>
          <p:nvPr/>
        </p:nvSpPr>
        <p:spPr>
          <a:xfrm>
            <a:off x="584185" y="1953816"/>
            <a:ext cx="7518212" cy="3842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E6D9D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Система ВО:</a:t>
            </a:r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Классические университеты + профильные + филиалы. Учебно-методическая документация строится на рабочих программах с компетентностной моделью — формат узнаваем.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E6D9D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Нормативная база:</a:t>
            </a:r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Свои образовательные стандарты вместо ФГОС/ФГТ. Для нас это контент нормативного пакета, а не новая архитектура.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E6D9D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Язык:</a:t>
            </a:r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Преимущественно русский в делопроизводстве → интерфейс и генерация не требуют переделки.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E6D9D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Логистика:</a:t>
            </a:r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Один часовой пояс, культурная близость, общие профсообщества → стоимость коммуникации почти нулевая.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E6D9D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Ограничение:</a:t>
            </a:r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Рынок маленький. Цель — не выручка «на миллион», а подтверждение переносимости продукта.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187" y="0"/>
            <a:ext cx="365750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39941"/>
            <a:ext cx="10769331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Обоснование привлекательности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11182" y="1305322"/>
            <a:ext cx="10769331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4" name="Text 2"/>
          <p:cNvSpPr/>
          <p:nvPr/>
        </p:nvSpPr>
        <p:spPr>
          <a:xfrm>
            <a:off x="711182" y="1654671"/>
            <a:ext cx="10769331" cy="2935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E6D9D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Та же боль:</a:t>
            </a:r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E6D9D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РПД/ФОС пишутся вручную, нормативка меняется, ответственность подписанта высока. Тезис «проверяемость, а не скорость» работает без переупаковки.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700" b="1" dirty="0">
                <a:solidFill>
                  <a:srgbClr val="E6D9D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Нулевая языковая адаптация ядра:</a:t>
            </a:r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E6D9D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Экономия главного ресурса команды из двух человек.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700" b="1" dirty="0">
                <a:solidFill>
                  <a:srgbClr val="E6D9D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ЕАЭС/Союзное государство:</a:t>
            </a:r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E6D9D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Проще договоры, расчеты, командировки. Нет проблем «закрытых платформ», характерных для дальнего зарубежья.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700" b="1" dirty="0">
                <a:solidFill>
                  <a:srgbClr val="E6D9D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Низкая конкуренция:</a:t>
            </a:r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700" dirty="0">
                <a:solidFill>
                  <a:srgbClr val="E6D9D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В нише «проверка учебно-методических документов» местные LMS-вендоры слабы [гипотеза, требует проверки].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700" b="1" dirty="0">
                <a:solidFill>
                  <a:srgbClr val="E6D9D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Дешевый маркетинг:</a:t>
            </a:r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700" dirty="0">
                <a:solidFill>
                  <a:srgbClr val="E6D9D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Тот же вход, что и в РФ — бесплатный аудит, методические конференции, сообщества.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12941"/>
            <a:ext cx="11074123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Адаптация продукта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58786" y="1178322"/>
            <a:ext cx="11074123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86" y="1527671"/>
          <a:ext cx="11074123" cy="914400"/>
        </p:xfrm>
        <a:graphic>
          <a:graphicData uri="http://schemas.openxmlformats.org/drawingml/2006/table">
            <a:tbl>
              <a:tblPr/>
              <a:tblGrid>
                <a:gridCol w="2121938"/>
                <a:gridCol w="5190201"/>
                <a:gridCol w="2999804"/>
                <a:gridCol w="253994"/>
                <a:gridCol w="253994"/>
                <a:gridCol w="254192"/>
              </a:tblGrid>
              <a:tr h="3898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BF3F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Слой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BF3F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Действие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BF3F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Оценка трудозатрат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08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Нормативные пакеты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Сбор выписок стандартов РБ по 2–3 направлениям + типовой РПД.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~1 неделя ручной работы (узкое место).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98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Шаблоны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Загрузка местных форм .docx + маппинг полей.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Дни.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98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Правила вуза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Нормы ФОС, часов, форм контроля (данные профиля).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Дни.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08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ML-слой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Проверка переноса верификатора/эмбеддингов на белорусские тексты. При деградации — дообучение.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1–2 недели (научный сюжет про transfer learning).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98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Модель-генератор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Без изменений (или локальная модель вуза).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98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Цены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Прайс ниже российского. Вход — бесплатный аудит.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—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98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Техподдержка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Тот же часовой пояс и язык.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~0.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5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Маркетинг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Telegram-сообщества, конференции, вебинар «аудит РПД», лендинг-поддомен.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 неделя.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76198" marB="761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57509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89298" y="538646"/>
            <a:ext cx="7543611" cy="430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200" spc="-80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Юридический формат и расчёты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089298" y="1278334"/>
            <a:ext cx="7543611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5" name="Text 2"/>
          <p:cNvSpPr/>
          <p:nvPr/>
        </p:nvSpPr>
        <p:spPr>
          <a:xfrm>
            <a:off x="4089298" y="1627684"/>
            <a:ext cx="7543611" cy="3486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E6D9D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Пилот:</a:t>
            </a:r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Трансграничный договор российского юрлица/ИП с вузом на аудит/обследование. Оплата в рамках ЕАЭС.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E6D9D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Данные:</a:t>
            </a:r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Два режима: наш контур (минимальный набор) или развертывание в сети вуза. Локализация данных в РБ [требует проверки юристом]. На пилоте обходимся файлами без персональных данных сотрудников.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E6D9D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Масштабирование:</a:t>
            </a:r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При подтверждении спроса — местный дистрибьютор/интегратор как продающий партнер (закрывает тендерные процедуры госзакупок).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E6D9D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Отказ от лишнего:</a:t>
            </a:r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Не регистрируем юрлицо в РБ до первых платных контрактов.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63741"/>
            <a:ext cx="11074123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Поэтапная стратегия выхода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58786" y="1229122"/>
            <a:ext cx="11074123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86" y="1858268"/>
          <a:ext cx="11074123" cy="914400"/>
        </p:xfrm>
        <a:graphic>
          <a:graphicData uri="http://schemas.openxmlformats.org/drawingml/2006/table">
            <a:tbl>
              <a:tblPr/>
              <a:tblGrid>
                <a:gridCol w="2325530"/>
                <a:gridCol w="1328803"/>
                <a:gridCol w="4097433"/>
                <a:gridCol w="3322356"/>
              </a:tblGrid>
              <a:tr h="4914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BF3F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Этап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BF3F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Срок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BF3F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Шаги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BF3F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Критерий перехода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24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0. Деск-исследование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Мес. 1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Реестры вузов, анализ 2–3 типовых РПД, 5 интервью методистов онлайн.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Подтверждена узнаваемость формата и боли.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24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1. Подготовка пакета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Мес. 2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Нормативный пакет 1 направления, шаблон, тест верификатора.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Качество вердиктов на местном тексте не ниже порога.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24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2. Пилот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Мес. 2–4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1–2 вуза (через контакты), бесплатный аудит → 1 платный пилот.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Хотя бы один продлённый/оплаченный пилот.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24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3. Канал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Мес. 4–6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Поиск дистрибьютора/интегратора, 1 конференция, кейс-статья.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Первые продажи без прямого участия команды.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14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4. Волна 2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Мес. 6–12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Казахстан (двуязычие нормативки).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Решение «Go/No-Go» по экономике после успеха в РБ.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12941"/>
            <a:ext cx="11074123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Риски и особенности ВЭД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58786" y="1178322"/>
            <a:ext cx="11074123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86" y="1527671"/>
          <a:ext cx="11074123" cy="914400"/>
        </p:xfrm>
        <a:graphic>
          <a:graphicData uri="http://schemas.openxmlformats.org/drawingml/2006/table">
            <a:tbl>
              <a:tblPr/>
              <a:tblGrid>
                <a:gridCol w="3100707"/>
                <a:gridCol w="2436255"/>
                <a:gridCol w="5537161"/>
              </a:tblGrid>
              <a:tr h="415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BF3F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Риск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BF3F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Вероятность/Влияние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BF3F0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Митигация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2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Маленький рынок, потолок выручки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Высокий/Высокий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Рынок = полигон переносимости. Цель — подтверждение гипотезы и кейсы для РФ.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Госзакупки и бюрократия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Высокая/Высокое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Не идем в тендеры сами — через местного партнера.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Расчетные ограничения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Средняя/Высокое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Расчеты в рамках ЕАЭС, уточнение банка-корреспондента.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Перенос качества ML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Средняя/Высокое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Замер на тестовой выборке до пилота; дообучение в роадмапе.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2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Терминологические отличия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Высокая/Среднее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Ручной сбор пакетов с вычиткой местным методистом-консультантом.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2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Репутация «российского» подрядчика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Низкая-Средняя/Среднее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Позиционирование «продукт для общего формата», локальный партнер лицом к клиенту.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9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Ресурс команды (2 человека)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Высокая/Высокое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D9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Один рынок одновременно. Экспорт не парализует РФ-линию (работы на месяц).</a:t>
                      </a:r>
                      <a:endParaRPr lang="en-US" sz="13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90741"/>
            <a:ext cx="10769331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10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Вывод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11182" y="1356122"/>
            <a:ext cx="10769331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4" name="Text 2"/>
          <p:cNvSpPr/>
          <p:nvPr/>
        </p:nvSpPr>
        <p:spPr>
          <a:xfrm>
            <a:off x="711182" y="2617291"/>
            <a:ext cx="10769331" cy="2579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E6D9D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Выбор рынка:</a:t>
            </a:r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E6D9D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Беларусь — идентичный формат документа, нулевой языковой барьер, правовое поле ЕАЭС, минимальная стоимость эксперимента.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700" b="1" dirty="0">
                <a:solidFill>
                  <a:srgbClr val="E6D9D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Архитектура расширения:</a:t>
            </a:r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E6D9D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Нормативка и шаблоны — данные, а не код. Экспорт = сборка пакетов + замер качества моделей.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700" b="1" dirty="0">
                <a:solidFill>
                  <a:srgbClr val="E6D9D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Цель года:</a:t>
            </a:r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E6D9D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Не выручка, а доказанная переносимость продукта и один иностранный кейс. Казахстан — только после успешного платного пилота в РБ.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700" b="1" dirty="0">
                <a:solidFill>
                  <a:srgbClr val="E6D9D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Честность ограничений:</a:t>
            </a:r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700" dirty="0">
                <a:solidFill>
                  <a:srgbClr val="E6D9D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 Рынок маленький, закупки медленные, команда малочисленна. Поэтому план — пилотный, а не захватнический.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2026-10-21T14:57:04Z</dcterms:created>
  <dcterms:modified xsi:type="dcterms:W3CDTF">2026-10-21T14:57:04Z</dcterms:modified>
</cp:coreProperties>
</file>