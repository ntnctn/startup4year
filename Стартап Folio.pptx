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notesSlides/notesSlide4.xml" ContentType="application/vnd.openxmlformats-officedocument.presentationml.notesSlide+xml"/>
  <Override PartName="/ppt/ink/ink5.xml" ContentType="application/inkml+xml"/>
  <Override PartName="/ppt/notesSlides/notesSlide5.xml" ContentType="application/vnd.openxmlformats-officedocument.presentationml.notesSlide+xml"/>
  <Override PartName="/ppt/ink/ink6.xml" ContentType="application/inkml+xml"/>
  <Override PartName="/ppt/notesSlides/notesSlide6.xml" ContentType="application/vnd.openxmlformats-officedocument.presentationml.notesSlide+xml"/>
  <Override PartName="/ppt/ink/ink7.xml" ContentType="application/inkml+xml"/>
  <Override PartName="/ppt/notesSlides/notesSlide7.xml" ContentType="application/vnd.openxmlformats-officedocument.presentationml.notesSlide+xml"/>
  <Override PartName="/ppt/ink/ink8.xml" ContentType="application/inkml+xml"/>
  <Override PartName="/ppt/notesSlides/notesSlide8.xml" ContentType="application/vnd.openxmlformats-officedocument.presentationml.notesSlide+xml"/>
  <Override PartName="/ppt/ink/ink9.xml" ContentType="application/inkml+xml"/>
  <Override PartName="/ppt/notesSlides/notesSlide9.xml" ContentType="application/vnd.openxmlformats-officedocument.presentationml.notesSlide+xml"/>
  <Override PartName="/ppt/ink/ink10.xml" ContentType="application/inkml+xml"/>
  <Override PartName="/ppt/notesSlides/notesSlide10.xml" ContentType="application/vnd.openxmlformats-officedocument.presentationml.notesSlide+xml"/>
  <Override PartName="/ppt/ink/ink11.xml" ContentType="application/inkml+xml"/>
  <Override PartName="/ppt/notesSlides/notesSlide11.xml" ContentType="application/vnd.openxmlformats-officedocument.presentationml.notesSlide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Alexandria Medium" panose="020B0604020202020204" charset="-78"/>
      <p:regular r:id="rId14"/>
    </p:embeddedFont>
    <p:embeddedFont>
      <p:font typeface="Manrope" panose="020B0604020202020204" charset="0"/>
      <p:regular r:id="rId15"/>
    </p:embeddedFont>
    <p:embeddedFont>
      <p:font typeface="Manrope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5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11:25:38.4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0 215 24575,'1'10'0,"0"1"0,4 14 0,-1-2 0,12 62 0,-15-82 0,1-1 0,-1 0 0,0 0 0,1 0 0,-1 0 0,1 0 0,-1-1 0,1 1 0,0 0 0,0-1 0,-1 1 0,1-1 0,1 0 0,-1 1 0,0-1 0,0 0 0,0 0 0,0-1 0,1 1 0,4 1 0,4 0 0,0 0 0,23 1 0,33 4 0,17 0 0,-70-6 0,-1 1 0,1 0 0,20 6 0,-1 0 0,-27-6 0,24 4 0,0-1 0,1-1 0,33 0 0,4-5 0,134 2 0,-131 5 0,27 2 0,796-8 0,-412-1 0,-467 0 0,0 0 0,0-2 0,22-5 0,22-15 0,-44 17 0,1 0 0,-1 0 0,-1-2 0,1 0 0,-1 0 0,-1-2 0,1 1 0,-1-2 0,14-14 0,-24 21 0,0 0 0,-1 0 0,1 0 0,-1 0 0,0-1 0,3-7 0,8-15 0,-12 26 0,-1 0 0,1 0 0,0 0 0,-1 0 0,1 0 0,-1 0 0,0 0 0,1-1 0,-1 1 0,0 0 0,1 0 0,-1 0 0,0-1 0,0 1 0,0 0 0,0 0 0,0-1 0,-1 1 0,1 0 0,0 0 0,-1-3 0,0 3 0,0-1 0,-1 0 0,1 1 0,0-1 0,0 0 0,-1 1 0,1 0 0,-1-1 0,0 1 0,1 0 0,-1 0 0,-2-1 0,-2-1 0,0 0 0,-1 0 0,1 1 0,-1 0 0,1 1 0,-1-1 0,-7 1 0,-17 1 0,1 1 0,-1 2 0,1 1 0,-29 8 0,23-5 0,1-1 0,-49 2 0,40-8 0,-132-2 0,113-4 0,-14-1 0,18 7 0,5 0 0,-88-11 0,0-5 0,-26-5 0,-48-23 0,-123-21 0,248 57 0,-156 5 0,122 5 0,102-2 0,0-1 0,-31-6 0,45 6 0,0-1 0,0-1 0,1 1 0,-12-6 0,16 6 0,-1-1 0,1 0 0,0 0 0,0 0 0,0 0 0,0-1 0,0 0 0,1 1 0,-4-7 0,-5-5-1365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11:25:52.3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21 24411,'2721'0'0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11:26:14.6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2628 235 24575,'-189'-1'0,"-221"3"0,240 12 0,28-1 0,-12-13 0,70-1 0,61 0 0,-27-5 0,26 3 0,-25-1 0,5 1 0,1-1 0,0-3 0,-63-17 0,83 18 0,-2 1 0,-50-3 0,56 7 0,0 0 0,0-2 0,0 0 0,-32-10 0,33 6 0,6 2 0,-1 0 0,0 1 0,0 0 0,-26-3 0,-187-22 0,130 5 0,28 7 0,44 10 0,-1 0 0,-1 2 0,-50-3 0,60 7 0,-1-1 0,1-1 0,0 0 0,-20-7 0,-18-4 0,11 7 0,91 16 0,-23-3 0,2-1 0,46 2 0,-49-7 0,0 1 0,38 6 0,-47-5 0,1 0 0,17-1 0,-19-1 0,0 0 0,-1 2 0,18 2 0,8 4 0,1-1 0,0-3 0,76-1 0,-61-4 0,93 2 0,-148-1 0,1 0 0,0 0 0,-1 0 0,1 0 0,-1 1 0,1-1 0,0 0 0,-1 0 0,1 0 0,-1 0 0,1 1 0,0-1 0,-1 0 0,1 0 0,-1 1 0,1-1 0,-1 1 0,1 0 0,-1-1 0,1 0 0,-1 1 0,0-1 0,0 0 0,0 1 0,0-1 0,0 0 0,0 1 0,-1-1 0,1 0 0,0 1 0,0-1 0,0 0 0,0 0 0,0 1 0,0-1 0,0 0 0,-1 1 0,1-1 0,0 0 0,0 0 0,0 1 0,-1-1 0,1 0 0,0 0 0,-22 16 0,-140 76 0,135-78 0,-48 18 0,17-9 0,47-19 0,0-1 0,0 1 0,0-2 0,0 1 0,-21 0 0,-59-3 0,39-1 0,41 0-151,0 1-1,1-2 0,-1 1 0,0-1 1,1-1-1,-1 0 0,1 0 1,-12-7-1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11:26:24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1 315 24575,'0'2'0,"0"0"0,1 0 0,-1 0 0,1 0 0,0 0 0,0 0 0,-1 0 0,1 0 0,0 0 0,1 0 0,-1-1 0,0 1 0,3 2 0,21 19 0,-25-23 0,13 12 0,17 13 0,49 32 0,-62-46 0,7 4 0,42 19 0,-59-31 0,1 0 0,-1 0 0,1-1 0,0 0 0,0-1 0,0 1 0,0-1 0,0-1 0,0 0 0,12-1 0,-18 1 0,0-1 0,1 1 0,-1-1 0,0 1 0,0-1 0,1 0 0,-1 0 0,0 0 0,0 0 0,0-1 0,0 1 0,0 0 0,0-1 0,-1 1 0,1-1 0,0 0 0,-1 0 0,3-3 0,-2 1 0,0 1 0,-1-1 0,1 0 0,-1 0 0,0 0 0,0 0 0,0 0 0,-1 0 0,1 0 0,-1-5 0,0 0 0,-1 0 0,1 1 0,-2-1 0,1 1 0,-1-1 0,-1 1 0,0 0 0,0-1 0,-8-13 0,8 18 0,0 0 0,0 0 0,0 1 0,-1-1 0,0 1 0,1 0 0,-1 0 0,-1 0 0,1 1 0,-8-4 0,-6-2 0,-26-7 0,35 12 0,-20-4 0,-30-5 0,7 3 0,29 1 0,16 2 0,7 6 0,0-1 0,0 1 0,0 0 0,0 0 0,1-1 0,-1 1 0,0 0 0,0 0 0,0-1 0,0 1 0,0 0 0,1 0 0,-1 0 0,0-1 0,0 1 0,0 0 0,1 0 0,-1 0 0,0 0 0,0-1 0,0 1 0,1 0 0,-1 0 0,0 0 0,0 0 0,1 0 0,-1 0 0,0 0 0,1 0 0,-1 0 0,0 0 0,0 0 0,1 0 0,3-1 0,1 0 0,-1 1 0,1 0 0,-1 0 0,1 0 0,-1 0 0,1 1 0,-1-1 0,5 2 0,41 15 0,-21-6 0,-10-5 0,14 4 0,40 19 0,-57-22 0,0-2 0,1 0 0,-1 0 0,20 1 0,-16-2 0,0 0 0,24 9 0,-36-10 0,1-1 0,-1 0 0,13 1 0,-14-2 0,0 0 0,0 0 0,0 1 0,0 0 0,0 0 0,9 5 0,-5-1 0,67 40 0,-66-37 0,-7-5 0,-1-1 0,1 1 0,0-1 0,0 0 0,0-1 0,1 1 0,-1-1 0,0 0 0,1 0 0,11 2 0,142-3 0,-80-2 0,418 1 0,-411 7 0,1 1 0,-19-9 0,52 2 0,-72 5 0,-30-3 0,24 1 0,288-3 0,-158-2 0,-167 1 0,0 0 0,1-1 0,-1 0 0,0 1 0,0-2 0,0 1 0,1-1 0,-1 1 0,0-1 0,-1-1 0,1 1 0,0-1 0,-1 0 0,7-5 0,-8 5 0,0 1 0,-1-1 0,1 0 0,-1 0 0,0 0 0,0 0 0,0-1 0,0 1 0,-1 0 0,1-1 0,-1 1 0,0-1 0,0 0 0,0 1 0,-1-1 0,1 0 0,-1 0 0,0 1 0,0-1 0,0 0 0,-1-4 0,0 4 0,0 1 0,0 0 0,0 0 0,0 0 0,0 0 0,-1 0 0,1 0 0,-1 1 0,0-1 0,0 0 0,0 1 0,0-1 0,0 1 0,-1 0 0,-3-3 0,-4-2 0,0 0 0,-20-9 0,27 14 0,-6-2 0,-1 0 0,0 0 0,0 1 0,-1 0 0,1 1 0,0 0 0,-15 0 0,-77 3 0,50 1 0,-261-2 0,274-3 0,-1-1 0,1-2 0,-76-23 0,64 15 0,10 1 0,-81-13 0,84 19 0,-1-2 0,-48-18 0,44 14 0,-18-9 0,41 14 0,0 0 0,0 2 0,-33-6 0,0 5 0,-151-13 0,98 13 0,-5-1 0,92 7 0,-1-1 0,0-1 0,0-1 0,-31-10 0,46 12-124,-1 0 0,1-1 0,0 0 0,-1 0 0,1-1 0,0 1-1,1-1 1,-1 0 0,1 0 0,-4-5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11:26:30.6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15 422 24575,'6'5'0,"-1"-1"0,1 0 0,0 0 0,0-1 0,11 6 0,15 8 0,-9-1 0,38 20 0,-51-31 0,0-1 0,0 0 0,0-1 0,0 0 0,1 0 0,-1-1 0,13 1 0,77 10 0,-68-7 0,62 3 0,471-10 0,-548 3 0,0 0 0,1 1 0,-1 0 0,0 1 0,0 1 0,25 12 0,33 9 0,79 6 0,-114-28 0,80-4 0,-51-2 0,494 2 0,-535-1 0,31-6 0,-19 2 0,-13 0 0,42-11 0,-6 0 0,-53 13 0,-1 0 0,0 0 0,17-9 0,-3 1 0,-17 8 0,-1 1 0,0 0 0,0-1 0,0 0 0,0 0 0,7-7 0,-10 8 0,0 0 0,0-1 0,0 1 0,-1-1 0,1 1 0,-1-1 0,0 1 0,0-1 0,0 0 0,0 0 0,0 0 0,0 1 0,-1-1 0,0 0 0,1-4 0,-1 1 0,1-1 0,-1 0 0,0 0 0,0-1 0,-2-10 0,1 16 0,1 0 0,-1 0 0,1 0 0,-1 1 0,0-1 0,0 0 0,0 0 0,0 1 0,0-1 0,0 1 0,0-1 0,0 1 0,-1-1 0,1 1 0,-1 0 0,1-1 0,-1 1 0,1 0 0,-1 0 0,0 0 0,0 0 0,-1 0 0,-21-7 0,1 1 0,-1 2 0,0 0 0,-34-2 0,-98 5 0,145 2 0,-11 1 0,-23 5 0,24-3 0,-29 1 0,-15 2 0,12 0 0,-141-4 0,118-3 0,49 0 0,-1-1 0,-50-11 0,-53-22 0,47 12 0,-83-14 0,53 10 0,59 15 0,-69-24 0,98 29 0,1 0 0,-1 1 0,-32-2 0,-25-4 0,64 8 0,-1 2 0,-26 0 0,5 0 0,-1-4 0,30 4 0,-26-3 0,13 3 0,-1-1 0,-47-12 0,-25-4 0,58 12 0,-1-1 0,-48-17 0,7 2 0,79 22 8,1 0 0,-1 0 0,0 0 0,1-1 0,-1 1 0,1-1 0,-1 1 0,1-1 0,0 0 0,-1 0 0,1 0 0,0 0 0,0 0 0,-2-4 0,0 0-305,1 0 0,-1 0 0,1-1 0,-3-11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11:26:37.9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1 164 24575,'9'1'0,"1"0"0,-1 1 0,1 0 0,-1 1 0,11 4 0,47 20 0,-41-15 0,1-1 0,0-1 0,0-2 0,29 6 0,-38-11 0,0 2 0,21 7 0,-20-5 0,31 6 0,-6-4 0,-8-2 0,0-1 0,38 1 0,-42-5 0,47 9 0,17 1 0,184-10 0,-147-3 0,-130 1 0,201-8 0,-119 2 0,101 5 0,-80 3 0,-37-1 0,77-3 0,-135 1 0,1-1 0,-1-1 0,13-4 0,-13 4 0,0 0 0,0 0 0,13-1 0,183 2 0,-110 3 0,-43 0 0,59-2 0,-112 1 0,1 0 0,-1 0 0,0-1 0,0 1 0,1 0 0,-1-1 0,0 1 0,0-1 0,0 1 0,1-1 0,-1 0 0,0 0 0,0 1 0,0-1 0,0 0 0,0 0 0,0 0 0,-1 0 0,3-2 0,-2 1 0,0 0 0,0 0 0,-1 0 0,1 0 0,0 0 0,-1-1 0,1 1 0,-1 0 0,0 0 0,1-5 0,-1 3 0,-1 1 0,1-1 0,0 1 0,-1-1 0,0 1 0,0 0 0,0-1 0,0 1 0,0 0 0,-1-1 0,0 1 0,1 0 0,-1 0 0,0 0 0,-3-2 0,-2-1 0,0 2 0,-1-1 0,1 1 0,-1 0 0,-9-3 0,-8-5 0,9 5 0,-1 1 0,1 1 0,-1 0 0,0 1 0,-22-2 0,15 2 0,-37-10 0,40 7 0,1 0 0,-1 2 0,0 0 0,-1 2 0,1 0 0,-24 0 0,-241-3 0,-52-9 0,-143 9 0,295 7 0,63 0 0,-133-2 0,185-6 0,-15 0 0,73 6 0,0-1 0,0 0 0,0-1 0,0-1 0,-16-6 0,-26-7 0,51 16-195,-1 0 0,1 0 0,0 0 0,-1-1 0,1 0 0,-6-3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11:26:48.7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397 329 24575,'4'0'0,"0"1"0,0 0 0,0 0 0,-1 1 0,1-1 0,0 1 0,0 0 0,-1 0 0,1 0 0,-1 0 0,4 4 0,16 9 0,6-3 0,0 0 0,1-2 0,57 11 0,-47-15 0,-28-5 0,0 1 0,20 6 0,-16-4 0,1 0 0,-1 0 0,0-2 0,21 1 0,67-4 0,-39 0 0,436 1 0,-488-1 0,1 0 0,15-4 0,-15 2 0,26-1 0,324 3 0,-174 2 0,-165-2 0,-1-1 0,35-9 0,-34 6 0,0 1 0,28-1 0,332 5 0,-173 1 0,-209-1 0,1 0 0,0 0 0,-1-1 0,1 1 0,-1-1 0,1 0 0,-1 0 0,1 0 0,-1 0 0,4-2 0,-5 2 0,-1-1 0,1 1 0,0 0 0,-1-1 0,1 1 0,-1 0 0,0-1 0,0 0 0,1 1 0,-1-1 0,0 0 0,0 0 0,0 1 0,-1-1 0,1 0 0,0 0 0,-1 0 0,1 0 0,-1-3 0,1-1 0,0 1 0,-1 0 0,1-1 0,-1 1 0,-1 0 0,1-1 0,-1 1 0,0 0 0,0-1 0,-3-5 0,3 7 0,-1 0 0,-1 1 0,1-1 0,0 1 0,-1 0 0,0-1 0,0 1 0,0 0 0,0 1 0,0-1 0,0 0 0,-1 1 0,-6-4 0,-7-3 0,-1-2 0,-1 1 0,0 1 0,0 1 0,-1 0 0,-25-5 0,-21-1 0,-1 3 0,-91-3 0,-1 14 0,-129-4 0,-332-18 0,507 23 0,-140-3 0,146-11 0,-8-1 0,-99 5 0,134 1 0,-78-19 0,44 14 0,16 3 0,49 3 0,-85-3 0,130 11-124,0-2 0,0 1 0,0 0 0,0-1 0,0 1 0,0-1-1,1 0 1,-1-1 0,0 1 0,-3-3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11:26:56.3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90 139 24575,'8'1'0,"-1"0"0,0 1 0,1 0 0,-1 0 0,0 0 0,0 1 0,0 0 0,-1 0 0,1 1 0,8 6 0,-5-4 0,2 0 0,18 8 0,47 14 0,-65-24 0,-1-1 0,1 0 0,16 1 0,4 2 0,-10-3 0,0-1 0,1-1 0,37-2 0,-41 0 0,1 0 0,-1 1 0,1 1 0,-1 1 0,30 7 0,-17 0 0,0-1 0,36 4 0,8-3 0,186 12 0,32-22 0,-276 2 0,29 5 0,-27-3 0,21 1 0,251-4 0,-140-1 0,-132 0 0,1-1 0,36-8 0,-36 5 0,0 1 0,32-1 0,-38 3 0,1 0 0,-1 0 0,25-8 0,15-3 0,-43 11 0,-1 0 0,1-1 0,-1-1 0,1 0 0,-1-1 0,0 0 0,0 0 0,-1-1 0,0-1 0,0 0 0,9-8 0,7-2 0,-20 15 0,-1-1 0,0 0 0,-1-1 0,10-6 0,-13 8 0,0 1 0,0 0 0,0-1 0,0 1 0,0-1 0,0 0 0,0 1 0,-1-1 0,1 1 0,0-1 0,-1 0 0,0 0 0,1 1 0,-1-1 0,0 0 0,0 0 0,0 0 0,0 1 0,0-1 0,0-2 0,-1 1 0,0 0 0,0 0 0,0 0 0,0 0 0,0 1 0,-1-1 0,1 1 0,-1-1 0,0 1 0,0-1 0,0 1 0,0 0 0,0 0 0,0 0 0,0 0 0,-1 0 0,1 1 0,-1-1 0,1 1 0,-1-1 0,0 1 0,1 0 0,-5-1 0,-6-2 0,-1 0 0,-1 1 0,-20-1 0,27 3 0,-103-8 0,-116 7 0,127 3 0,8 6 0,6 0 0,-553-6 0,311-2 0,314 1 0,1-1 0,-1 0 0,1 0 0,-1-1 0,1-1 0,0 0 0,0-1 0,0-1 0,-16-7 0,14 5 0,0 1 0,-1 0 0,1 1 0,-1 1 0,-1 0 0,1 1 0,0 1 0,-1 1 0,-28 1 0,-452 1-1365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11:27:05.5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35 24575,'136'47'0,"-114"-39"0,-7-2 0,1-1 0,0 0 0,0-1 0,23 3 0,-31-6 0,-1 0 0,1 1 0,0 0 0,-1 0 0,1 1 0,-1 0 0,11 6 0,-2-3 0,0 0 0,0-1 0,0-1 0,1 0 0,22 2 0,7-1 0,87 7 0,-117-12 0,21-1 0,-34-1 0,-8-1 0,-11-1 0,-9 1 0,0 0 0,-49 2 0,66 1 0,0 1 0,0 0 0,0 0 0,0 1 0,0 0 0,0 1 0,1-1 0,-1 1 0,1 1 0,0-1 0,0 1 0,0 1 0,-9 6 0,-1 7 0,14-13 0,-1-1 0,1 0 0,-1-1 0,0 1 0,-7 4 0,-99 53 0,110-61 0,0 0 0,0 0 0,0 0 0,-1 0 0,1 0 0,0 0 0,0 0 0,0 0 0,0 0 0,0 0 0,0 0 0,0 0 0,0 0 0,-1 0 0,1 0 0,0 1 0,0-1 0,0 0 0,0 0 0,0 0 0,0 0 0,0 0 0,0 0 0,0 0 0,0 0 0,0 1 0,0-1 0,0 0 0,0 0 0,0 0 0,0 0 0,-1 0 0,1 0 0,0 0 0,0 1 0,0-1 0,1 0 0,-1 0 0,0 0 0,0 0 0,0 0 0,0 1 0,6 1 0,11-2 0,-16 0 0,500-1 0,-473 2 0,0 2 0,0 1 0,37 10 0,-7-1 0,-26-8 0,0-3 0,0 0 0,35-3 0,-9 0 0,-40-1 0,-1 1 0,1-2 0,19-5 0,-17 3 0,39-4 0,75-4 0,58-2 0,-115 16 0,91-2 0,-153-1 0,0-1 0,21-6 0,-22 5 0,0 0 0,0 2 0,15-2 0,82-7 0,-1 0 0,-65 3 0,0 3 0,54-1 0,-61 7 0,-18 0 0,0 0 0,28-4 0,-39 0 0,-1 1 0,0-2 0,0 1 0,0-1 0,0 0 0,13-10 0,-1 2 0,-18 10 0,0 1 0,0-1 0,0 1 0,0-1 0,0 0 0,0 0 0,-1 0 0,1 0 0,-1 0 0,1 0 0,-1 0 0,0 0 0,0 0 0,0-1 0,0 1 0,0 0 0,-1-1 0,1 1 0,-1-1 0,1 1 0,-1-1 0,0 1 0,0-1 0,0 1 0,0-1 0,-1 1 0,1-1 0,-1 1 0,1-1 0,-1 1 0,-1-3 0,1 0 0,-1 1 0,0-1 0,0 1 0,-1 0 0,1 0 0,-1 0 0,0 0 0,0 0 0,0 0 0,-1 1 0,1 0 0,-1-1 0,0 1 0,1 1 0,-8-5 0,-10-1 0,1 1 0,-32-6 0,25 7 0,-1 0 0,0 1 0,0 2 0,-1 1 0,1 1 0,-37 3 0,-141 28 0,105-5 0,14-2 0,35-13 0,0-1 0,0-3 0,-64-1 0,-89-5 0,-57-1 0,187-4 0,-133-25 0,180 26 0,1 1 0,0 2 0,-29 1 0,30 1 0,1-1 0,-1-1 0,-40-8 0,-4-3 0,-10-2 0,71 11-170,0 0-1,1 0 0,-1-1 1,1 0-1,0 0 0,0-1 1,-10-7-1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11:27:12.9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180 442 24575,'89'1'0,"-18"1"0,94-10 0,-107-2 0,-31 5 0,37-2 0,-40 5 0,43-10 0,-42 6 0,27-1 0,-30 4 0,32-8 0,-34 6 0,0 1 0,20-1 0,15 4 0,82 10 0,-109-7 0,10 1 0,111 15 0,-38-5 0,0 1 0,58 7 0,-157-20 0,235 3 0,-141-6 0,408 2 0,-506 0 0,1-1 0,-1-1 0,0 1 0,0-1 0,0 0 0,12-6 0,0 1 0,-17 6 0,0 0 0,-1 0 0,1-1 0,0 1 0,-1-1 0,1 0 0,-1 1 0,0-1 0,1 0 0,-1-1 0,0 1 0,0 0 0,3-5 0,-1-1 0,1 0 0,-2 0 0,5-11 0,-4 6 0,-3 12 0,-1-1 0,0 1 0,1 0 0,-1 0 0,0 0 0,0 0 0,0-1 0,0 1 0,0 0 0,0 0 0,0 0 0,0-1 0,-1 1 0,1 0 0,0 0 0,-1 0 0,1 0 0,-1 0 0,1 0 0,-1 0 0,1 0 0,-1 0 0,0 0 0,0 0 0,1 0 0,-1 0 0,0 0 0,0 0 0,0 1 0,0-1 0,0 0 0,0 1 0,0-1 0,0 1 0,-1-1 0,-5-2 0,1 0 0,-1 1 0,1 0 0,-13-2 0,-33-2 0,-1 1 0,-91 6 0,75 0 0,-586 0 0,608-4 0,-1-2 0,1-2 0,-60-17 0,10 3 0,54 12 0,-1 3 0,-65-2 0,83 6 0,1-1 0,-1-1 0,-26-7 0,23 4 0,-55-6 0,-101 11 0,-27-2 0,187 2 0,0-1 0,1-1 0,-1-1 0,1-1 0,-34-13 0,-43-17 0,35 13 0,26 10 0,-1 2 0,-68-9 0,57 15-1365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11:27:26.4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99 24575,'21'1'0,"-1"0"0,1 1 0,30 8 0,63 10 0,-92-17 0,7 1 0,-17-3 0,-1 0 0,0 1 0,21 6 0,-18-3 0,-1-2 0,0 1 0,1-2 0,26 2 0,58-5 0,-39 0 0,-19 1 0,-35 0 0,-27 0 0,-481 0 0,501 0 0,-22 2 0,13 2 0,11-4 0,0 0 0,0 0 0,0 0 0,0 1 0,-1-1 0,1 0 0,0 0 0,0 1 0,0-1 0,0 0 0,0 0 0,0 1 0,-1-1 0,1 0 0,0 0 0,0 1 0,0-1 0,0 0 0,0 0 0,0 1 0,0-1 0,0 0 0,0 0 0,0 1 0,0-1 0,0 0 0,0 1 0,1-1 0,-1 0 0,0 0 0,0 1 0,1 0 0,-1 0 0,1-1 0,0 1 0,0 0 0,0 0 0,-1-1 0,1 1 0,0 0 0,0-1 0,0 1 0,0-1 0,0 1 0,0-1 0,0 0 0,0 1 0,0-1 0,1 0 0,23 4 0,-16-3 0,2 0 0,30 5 0,55 0 0,903-7 0,-543 2 0,-427 0 0,29 6 0,-5-1 0,-1-1 0,55 3 0,121-19 0,-217 10 0,5 0 0,1-1 0,0-1 0,0 0 0,-1-2 0,21-7 0,1-1 0,-30 11 0,0-1 0,0 0 0,0 0 0,0-1 0,9-5 0,-5 1 0,1 2 0,0 0 0,0 0 0,1 2 0,14-5 0,-11 4 0,-17 5 0,1 0 0,-1 0 0,0 0 0,0 0 0,0 0 0,1 0 0,-1 0 0,0 0 0,0 0 0,0 0 0,1 0 0,-1 0 0,0 0 0,0 0 0,0 0 0,1 0 0,-1 0 0,0 0 0,0 0 0,0 0 0,0-1 0,1 1 0,-1 0 0,0 0 0,0 0 0,0 0 0,0 0 0,0-1 0,0 1 0,1 0 0,-1 0 0,0 0 0,0 0 0,0-1 0,0 1 0,0 0 0,0 0 0,0 0 0,0-1 0,-10-1 0,-20 2 0,28 0 0,-816 1 0,693-8 0,2 0 0,-478 7 0,493 7 0,5 0 0,89-6 0,-1 1 0,1 0 0,-23 7 0,20-5 0,1 0 0,-21 1 0,32-4 0,1-1 0,0 1 0,0-1 0,0 0 0,0 0 0,0 0 0,0 0 0,0-1 0,0 0 0,0 0 0,-6-2 0,10 3 0,0 0 0,-1-1 0,1 1 0,0 0 0,0 0 0,0 0 0,0 0 0,0 0 0,0-1 0,-1 1 0,1 0 0,0 0 0,0 0 0,0 0 0,0-1 0,0 1 0,0 0 0,0 0 0,0 0 0,0-1 0,0 1 0,0 0 0,0 0 0,0 0 0,0-1 0,0 1 0,0 0 0,0 0 0,0 0 0,0 0 0,0-1 0,0 1 0,1 0 0,-1 0 0,0 0 0,0 0 0,0-1 0,0 1 0,0 0 0,0 0 0,1 0 0,-1 0 0,0 0 0,8-7 0,84-40 0,-64 34 0,-1 2 0,-1 1 0,1 1 0,1 1 0,-1 2 0,57-6 0,144 7 0,-188 5 0,-15 1 0,0 2 0,0 0 0,-1 1 0,27 9 0,92 37 0,-88-29 0,75 19 0,-59-21 0,-38-10 0,41 7 0,74 11 0,-85-17 0,-18-1 0,83 3 0,175-13 0,-298 1 0,0 0 0,0 0 0,0 1 0,1-1 0,-1 1 0,0 1 0,-1-1 0,1 1 0,0-1 0,0 1 0,-1 1 0,1-1 0,6 5 0,-5-3 0,2 0 0,-1 0 0,0-1 0,1 0 0,10 3 0,-12-5 0,-1 0 0,0 1 0,1 0 0,-1 0 0,0 0 0,0 1 0,0-1 0,-1 1 0,1 0 0,-1 1 0,1-1 0,-1 1 0,5 6 0,-5-4 0,5 4 0,-8-11 0,-1 1 0,1-1 0,-1 1 0,0-1 0,1 1 0,-1-1 0,0 1 0,0-1 0,1 1 0,-1-1 0,0 1 0,0-1 0,0 0 0,0 1 0,1-1 0,-1 0 0,0 1 0,0-1 0,0 1 0,0-1 0,-1 0 0,1 1 0,0-1 0,0 0 0,0-10 0,1-18 0,-4-28 0,2 47 0,-1 1 0,0-1 0,0 1 0,-1-1 0,0 1 0,-9-17 0,-12-15-1365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11:27:38.4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197 0 24575,'-1'2'0,"1"0"0,-1 1 0,0-1 0,1 0 0,-1 0 0,0 0 0,0 0 0,0 0 0,-3 3 0,-4 10 0,7-13 0,0 1 0,1-1 0,-1 0 0,1 0 0,0 0 0,0 0 0,-1 0 0,2 1 0,-1-1 0,0 0 0,0 0 0,1 0 0,-1 0 0,1 0 0,-1 0 0,1 0 0,0 0 0,0 0 0,0 0 0,0 0 0,0 0 0,1 0 0,-1-1 0,0 1 0,1 0 0,-1-1 0,1 1 0,0-1 0,-1 0 0,5 3 0,4 1 0,-1-1 0,1 1 0,0-2 0,21 6 0,-21-6 0,24 3 0,-26-5 0,1 1 0,-1 0 0,0 0 0,12 4 0,-20-6 0,10 6 0,1-1 0,-1-1 0,1 0 0,0-1 0,0 0 0,1-1 0,14 2 0,37-4 0,-40-1 0,0 1 0,40 6 0,-27-2 0,0-1 0,47-2 0,-78-1 0,8 1 0,0 1 0,0 0 0,-1 0 0,1 1 0,20 9 0,-19-7 0,0-1 0,0 0 0,29 4 0,119-8 0,-74-1 0,930 1 0,-1005-1 0,0 0 0,16-4 0,-15 2 0,24-1 0,190 4 0,-217-1 0,1 0 0,0-1 0,0 0 0,13-6 0,6 0 0,90-13 0,-120 21 0,1 0 0,-1 0 0,1 0 0,0 0 0,-1-1 0,1 1 0,-1 0 0,1-1 0,-1 1 0,1-1 0,-1 0 0,0 0 0,1 1 0,-1-1 0,0 0 0,1 0 0,-1 0 0,0 0 0,0-1 0,0 1 0,0 0 0,1-2 0,-1 1 0,-1 0 0,1 0 0,-1 0 0,0 1 0,0-1 0,0 0 0,0 0 0,0 0 0,0 1 0,0-1 0,-1 0 0,1 0 0,-1 1 0,1-1 0,-1 0 0,0 0 0,1 1 0,-1-1 0,-2-2 0,-1-2 0,1 1 0,-1-1 0,0 1 0,-1-1 0,0 1 0,0 0 0,0 1 0,0 0 0,-1-1 0,-7-4 0,3 5 0,1-1 0,-1 2 0,0-1 0,0 1 0,-1 1 0,-11-2 0,-27-3 0,-1 3 0,-69 3 0,92 4 0,0 1 0,0 2 0,0 0 0,-42 17 0,35-12 0,-64 14 0,51-19 0,-1-3 0,1-2 0,-1-2 0,1-2 0,0-2 0,-72-17 0,-51-23 0,159 42 0,0 0 0,-1 2 0,1-1 0,-1 1 0,1 1 0,-1 0 0,1 1 0,-1 0 0,-16 4 0,-141 16 0,122-18 0,-167 7 0,109-9 0,-121-3 0,85-11 0,-29-1 0,-82 14 100,112 1-1565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564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2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svg"/><Relationship Id="rId7" Type="http://schemas.openxmlformats.org/officeDocument/2006/relationships/customXml" Target="../ink/ink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customXml" Target="../ink/ink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customXml" Target="../ink/ink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customXml" Target="../ink/ink1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6F7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0988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Folio: AI-конструктор для автоматизации документов в вузах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415428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Превращаем 40+ часов рутины в минуты — с помощью управляемого ИИ-конвейера для преподавателей.</a:t>
            </a:r>
            <a:endParaRPr lang="en-US" sz="14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4EFDD2BD-E342-E2CA-D35C-AF1591EE02F1}"/>
                  </a:ext>
                </a:extLst>
              </p14:cNvPr>
              <p14:cNvContentPartPr/>
              <p14:nvPr/>
            </p14:nvContentPartPr>
            <p14:xfrm>
              <a:off x="11082162" y="6546858"/>
              <a:ext cx="970920" cy="17244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4EFDD2BD-E342-E2CA-D35C-AF1591EE02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19162" y="6483858"/>
                <a:ext cx="1096560" cy="298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6F7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5" y="481409"/>
            <a:ext cx="4421275" cy="58951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29233"/>
            <a:ext cx="6296860" cy="941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3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Проблема: 40+ часов на создание одного документа</a:t>
            </a:r>
            <a:endParaRPr lang="en-US" sz="2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650405"/>
            <a:ext cx="6296860" cy="10795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79218" y="1820069"/>
            <a:ext cx="58813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Ручной труд без инструментов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5479218" y="2127349"/>
            <a:ext cx="5881342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Преподаватели вручную создают РПД и ФОС — без какой-либо автоматизации или поддержки.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849959"/>
            <a:ext cx="6296860" cy="107959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79218" y="3019623"/>
            <a:ext cx="58813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Бюрократический лабиринт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5479218" y="3326904"/>
            <a:ext cx="5881342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Каждый документ должен вручную согласовываться с ФГОС, компетенциями и учебным планом.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049514"/>
            <a:ext cx="6296860" cy="107959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79218" y="4219178"/>
            <a:ext cx="58813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Двойной ввод данных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5479218" y="4526459"/>
            <a:ext cx="5881342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Интеграция с ММИС требует повторного ввода всей информации — ошибки и потеря времени неизбежны.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5249069"/>
            <a:ext cx="6296860" cy="107959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79218" y="5418733"/>
            <a:ext cx="58813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Масштаб боли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5479218" y="5726013"/>
            <a:ext cx="5881342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217 000 преподавателей</a:t>
            </a: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в России — это потенциально </a:t>
            </a:r>
            <a:r>
              <a:rPr lang="en-US" sz="11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8,7 млн часов в год</a:t>
            </a: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на рутинную документацию.</a:t>
            </a:r>
            <a:endParaRPr lang="en-US" sz="11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A352B7A9-5A6F-8F3A-BCE9-FFBA1A7125DE}"/>
                  </a:ext>
                </a:extLst>
              </p14:cNvPr>
              <p14:cNvContentPartPr/>
              <p14:nvPr/>
            </p14:nvContentPartPr>
            <p14:xfrm>
              <a:off x="11116722" y="6673938"/>
              <a:ext cx="979920" cy="720"/>
            </p14:xfrm>
          </p:contentPart>
        </mc:Choice>
        <mc:Fallback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A352B7A9-5A6F-8F3A-BCE9-FFBA1A7125D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53722" y="6547938"/>
                <a:ext cx="11055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" name="Рукописный ввод 19">
                <a:extLst>
                  <a:ext uri="{FF2B5EF4-FFF2-40B4-BE49-F238E27FC236}">
                    <a16:creationId xmlns:a16="http://schemas.microsoft.com/office/drawing/2014/main" id="{A15CEC6C-43C2-B814-F4CA-75CE9D22D0A4}"/>
                  </a:ext>
                </a:extLst>
              </p14:cNvPr>
              <p14:cNvContentPartPr/>
              <p14:nvPr/>
            </p14:nvContentPartPr>
            <p14:xfrm>
              <a:off x="11104842" y="6634338"/>
              <a:ext cx="946440" cy="99720"/>
            </p14:xfrm>
          </p:contentPart>
        </mc:Choice>
        <mc:Fallback>
          <p:pic>
            <p:nvPicPr>
              <p:cNvPr id="20" name="Рукописный ввод 19">
                <a:extLst>
                  <a:ext uri="{FF2B5EF4-FFF2-40B4-BE49-F238E27FC236}">
                    <a16:creationId xmlns:a16="http://schemas.microsoft.com/office/drawing/2014/main" id="{A15CEC6C-43C2-B814-F4CA-75CE9D22D0A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041842" y="6571698"/>
                <a:ext cx="1072080" cy="22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783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Решение: Folio — управляемый ИИ-конвейер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870968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Не «чёрный ящик», а управляемый процесс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355255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Folio — это структурированный конвейер создания документов, где преподаватель контролирует каждый шаг, а не получает непредсказуемый результат от нейросети.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432572"/>
            <a:ext cx="6903269" cy="2551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Автоматическая генерация:</a:t>
            </a: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загрузи материалы курса → получи готовый черновик РПД и ФОС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Пошаговый контроль:</a:t>
            </a: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система ведёт через каждый этап — от целей обучения до оценочных средств — с возможностью корректировки на любом шаге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Экспорт в стандартные форматы:</a:t>
            </a: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готовый документ в Word, PDF или другие форматы — преподаватель может использовать как есть или доработать</a:t>
            </a:r>
            <a:endParaRPr lang="en-US" sz="14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B3A7ABAC-EE79-ABA5-5E20-3C4613ECC473}"/>
                  </a:ext>
                </a:extLst>
              </p14:cNvPr>
              <p14:cNvContentPartPr/>
              <p14:nvPr/>
            </p14:nvContentPartPr>
            <p14:xfrm>
              <a:off x="11111682" y="6555498"/>
              <a:ext cx="949680" cy="19368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B3A7ABAC-EE79-ABA5-5E20-3C4613ECC47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49042" y="6492858"/>
                <a:ext cx="1075320" cy="31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005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kern="0" spc="-3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Как это работает: сценарий использования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68413"/>
            <a:ext cx="10868745" cy="46948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55023" y="4221675"/>
            <a:ext cx="1613822" cy="587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Указание параметров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3255023" y="4893152"/>
            <a:ext cx="1613822" cy="64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дисциплина, часы, компетенции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398903" y="4436574"/>
            <a:ext cx="1613822" cy="58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Генерация черновика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398903" y="5108050"/>
            <a:ext cx="1613822" cy="429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через этапы с AI-поддержкой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88227" y="1692044"/>
            <a:ext cx="1613822" cy="58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Выбор шаблона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188227" y="2363521"/>
            <a:ext cx="1613822" cy="429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РПД, ФОС или комплект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404137" y="1692044"/>
            <a:ext cx="1613822" cy="881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Просмотр спорных фрагментов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404137" y="2657455"/>
            <a:ext cx="1613822" cy="429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источник и уверенность AI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352682" y="1692044"/>
            <a:ext cx="1613822" cy="58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Загрузка материалов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352682" y="2363521"/>
            <a:ext cx="1613822" cy="64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лекции, методички и файлы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6108998"/>
            <a:ext cx="1147833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Полный цикл создания документа — от шаблона до готового файла — за минуты вместо дней.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Рукописный ввод 14">
                <a:extLst>
                  <a:ext uri="{FF2B5EF4-FFF2-40B4-BE49-F238E27FC236}">
                    <a16:creationId xmlns:a16="http://schemas.microsoft.com/office/drawing/2014/main" id="{D9A48B20-EBEA-F2EB-5D48-E3BFC43EBC17}"/>
                  </a:ext>
                </a:extLst>
              </p14:cNvPr>
              <p14:cNvContentPartPr/>
              <p14:nvPr/>
            </p14:nvContentPartPr>
            <p14:xfrm>
              <a:off x="11111322" y="6507258"/>
              <a:ext cx="955800" cy="242280"/>
            </p14:xfrm>
          </p:contentPart>
        </mc:Choice>
        <mc:Fallback>
          <p:pic>
            <p:nvPicPr>
              <p:cNvPr id="15" name="Рукописный ввод 14">
                <a:extLst>
                  <a:ext uri="{FF2B5EF4-FFF2-40B4-BE49-F238E27FC236}">
                    <a16:creationId xmlns:a16="http://schemas.microsoft.com/office/drawing/2014/main" id="{D9A48B20-EBEA-F2EB-5D48-E3BFC43EBC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48682" y="6444258"/>
                <a:ext cx="1081440" cy="367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233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kern="0" spc="-3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Рынок: 750 вузов, 217 000 преподавателей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95326"/>
            <a:ext cx="5221851" cy="3758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4719" y="1475284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1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Факторы роста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314719" y="1908076"/>
            <a:ext cx="5221851" cy="1239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TAM:</a:t>
            </a:r>
            <a:r>
              <a:rPr lang="en-US" sz="13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300–450 млн ₽/год в России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SAM:</a:t>
            </a:r>
            <a:r>
              <a:rPr lang="en-US" sz="13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120–180 млн ₽/год в первые 3 года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Целевой сегмент:</a:t>
            </a:r>
            <a:r>
              <a:rPr lang="en-US" sz="13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300–500 крупных и средних вузов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Потенциал СНГ:</a:t>
            </a:r>
            <a:r>
              <a:rPr lang="en-US" sz="13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1,5+ млрд ₽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314719" y="3328392"/>
            <a:ext cx="2530610" cy="1597323"/>
          </a:xfrm>
          <a:prstGeom prst="roundRect">
            <a:avLst>
              <a:gd name="adj" fmla="val 16363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5292" y="3508970"/>
            <a:ext cx="216946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17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Импортозамещение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95292" y="3941763"/>
            <a:ext cx="2169463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Уход зарубежных решений открывает рынок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005960" y="3328392"/>
            <a:ext cx="2530610" cy="1597323"/>
          </a:xfrm>
          <a:prstGeom prst="roundRect">
            <a:avLst>
              <a:gd name="adj" fmla="val 16363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86533" y="3508970"/>
            <a:ext cx="216946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17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Цифровизация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186533" y="3941763"/>
            <a:ext cx="2169463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Государственный курс на цифровое образование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14719" y="5086350"/>
            <a:ext cx="5221851" cy="1061740"/>
          </a:xfrm>
          <a:prstGeom prst="roundRect">
            <a:avLst>
              <a:gd name="adj" fmla="val 24618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5292" y="5266928"/>
            <a:ext cx="486070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17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Требования ФГОС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95292" y="5699720"/>
            <a:ext cx="4860704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Обязательная актуализация документации</a:t>
            </a:r>
            <a:endParaRPr lang="en-US" sz="13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Рукописный ввод 14">
                <a:extLst>
                  <a:ext uri="{FF2B5EF4-FFF2-40B4-BE49-F238E27FC236}">
                    <a16:creationId xmlns:a16="http://schemas.microsoft.com/office/drawing/2014/main" id="{8CCACB60-398A-7AAF-5A59-36B0DB7624C8}"/>
                  </a:ext>
                </a:extLst>
              </p14:cNvPr>
              <p14:cNvContentPartPr/>
              <p14:nvPr/>
            </p14:nvContentPartPr>
            <p14:xfrm>
              <a:off x="11111682" y="6600138"/>
              <a:ext cx="960480" cy="129240"/>
            </p14:xfrm>
          </p:contentPart>
        </mc:Choice>
        <mc:Fallback>
          <p:pic>
            <p:nvPicPr>
              <p:cNvPr id="15" name="Рукописный ввод 14">
                <a:extLst>
                  <a:ext uri="{FF2B5EF4-FFF2-40B4-BE49-F238E27FC236}">
                    <a16:creationId xmlns:a16="http://schemas.microsoft.com/office/drawing/2014/main" id="{8CCACB60-398A-7AAF-5A59-36B0DB7624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49042" y="6537498"/>
                <a:ext cx="1086120" cy="254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215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Конкурентные преимущества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50827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559546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Умная валидация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968228"/>
            <a:ext cx="5316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Автоматически проверяет соответствие целей, компетенций и индикаторов — выявляет противоречия до подачи документов.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1850827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559546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Паспорт фрагмента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296822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Каждый элемент документа прослеживается: источник, уровень уверенности AI и статус проверки эксперта.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25350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962227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Обучение на фидбеке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370909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Система адаптируется под специфику конкретной кафедры и вуза — с каждым циклом результат точнее.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25350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962227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On-premise опция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370909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Данные вуза не покидают периметр: полная изоляция и соответствие 152-ФЗ для требовательных заказчиков.</a:t>
            </a:r>
            <a:endParaRPr lang="en-US" sz="14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Рукописный ввод 14">
                <a:extLst>
                  <a:ext uri="{FF2B5EF4-FFF2-40B4-BE49-F238E27FC236}">
                    <a16:creationId xmlns:a16="http://schemas.microsoft.com/office/drawing/2014/main" id="{6D6C918A-4615-9115-D2DC-21C4A8B3A7B2}"/>
                  </a:ext>
                </a:extLst>
              </p14:cNvPr>
              <p14:cNvContentPartPr/>
              <p14:nvPr/>
            </p14:nvContentPartPr>
            <p14:xfrm>
              <a:off x="10978842" y="6545778"/>
              <a:ext cx="1098000" cy="164160"/>
            </p14:xfrm>
          </p:contentPart>
        </mc:Choice>
        <mc:Fallback>
          <p:pic>
            <p:nvPicPr>
              <p:cNvPr id="15" name="Рукописный ввод 14">
                <a:extLst>
                  <a:ext uri="{FF2B5EF4-FFF2-40B4-BE49-F238E27FC236}">
                    <a16:creationId xmlns:a16="http://schemas.microsoft.com/office/drawing/2014/main" id="{6D6C918A-4615-9115-D2DC-21C4A8B3A7B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915842" y="6482778"/>
                <a:ext cx="1223640" cy="28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Бизнес-модель: прямые продажи вузам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8293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Модель монетизации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067223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Основной канал — продажа лицензий вузам. Дополнительный канал — индивидуальные лицензии для преподавателей.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187105"/>
            <a:ext cx="2507394" cy="2682379"/>
          </a:xfrm>
          <a:prstGeom prst="roundRect">
            <a:avLst>
              <a:gd name="adj" fmla="val 11308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6832" y="3382466"/>
            <a:ext cx="21166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Базовый тариф для вуза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4162028"/>
            <a:ext cx="211668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900 000 ₽/год — неограниченное число преподавателей, стандартный функционал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357875" y="3187105"/>
            <a:ext cx="2507394" cy="2682379"/>
          </a:xfrm>
          <a:prstGeom prst="roundRect">
            <a:avLst>
              <a:gd name="adj" fmla="val 11308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3232" y="3382466"/>
            <a:ext cx="21166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Индивидуальная лицензия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3553232" y="4162028"/>
            <a:ext cx="211668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5 000–10 000 ₽/год — персональный аккаунт для преподавателя, полный доступ к платформе</a:t>
            </a:r>
            <a:endParaRPr lang="en-US" sz="14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1606550"/>
            <a:ext cx="5203794" cy="374580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32776" y="5564981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50 → 120 → 200+ вузов при росте охвата через прямые продажи.</a:t>
            </a:r>
            <a:endParaRPr lang="en-US" sz="14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Рукописный ввод 12">
                <a:extLst>
                  <a:ext uri="{FF2B5EF4-FFF2-40B4-BE49-F238E27FC236}">
                    <a16:creationId xmlns:a16="http://schemas.microsoft.com/office/drawing/2014/main" id="{1D937582-95B9-C0DD-0E1E-32BE700751AB}"/>
                  </a:ext>
                </a:extLst>
              </p14:cNvPr>
              <p14:cNvContentPartPr/>
              <p14:nvPr/>
            </p14:nvContentPartPr>
            <p14:xfrm>
              <a:off x="11134362" y="6628938"/>
              <a:ext cx="919080" cy="120240"/>
            </p14:xfrm>
          </p:contentPart>
        </mc:Choice>
        <mc:Fallback>
          <p:pic>
            <p:nvPicPr>
              <p:cNvPr id="13" name="Рукописный ввод 12">
                <a:extLst>
                  <a:ext uri="{FF2B5EF4-FFF2-40B4-BE49-F238E27FC236}">
                    <a16:creationId xmlns:a16="http://schemas.microsoft.com/office/drawing/2014/main" id="{1D937582-95B9-C0DD-0E1E-32BE700751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71362" y="6566298"/>
                <a:ext cx="1044720" cy="245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6F7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4013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Команда: ML + Engineering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303264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Настя — ML/Data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233360" y="2787551"/>
            <a:ext cx="2917851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Аналитика и валидация качества данных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Обучение модели на фидбеке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Работа с датасетами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18719" y="2303264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19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Катя — ML Engineering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618719" y="2787551"/>
            <a:ext cx="2917851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Архитектура сервиса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Пайплайны генерации и MLOps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Интеграции и мониторинг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233360" y="4710509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Опыт разработки в крупных компаниях + практический опыт внедрения ИИ-решений. Цель — решить реальную проблему в образовании и масштабировать Folio на всю Россию.</a:t>
            </a:r>
            <a:endParaRPr lang="en-US" sz="14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Рукописный ввод 9">
                <a:extLst>
                  <a:ext uri="{FF2B5EF4-FFF2-40B4-BE49-F238E27FC236}">
                    <a16:creationId xmlns:a16="http://schemas.microsoft.com/office/drawing/2014/main" id="{5FB53B64-2E23-F641-9D96-37263AD7A4B6}"/>
                  </a:ext>
                </a:extLst>
              </p14:cNvPr>
              <p14:cNvContentPartPr/>
              <p14:nvPr/>
            </p14:nvContentPartPr>
            <p14:xfrm>
              <a:off x="11067042" y="6626778"/>
              <a:ext cx="991080" cy="132840"/>
            </p14:xfrm>
          </p:contentPart>
        </mc:Choice>
        <mc:Fallback>
          <p:pic>
            <p:nvPicPr>
              <p:cNvPr id="10" name="Рукописный ввод 9">
                <a:extLst>
                  <a:ext uri="{FF2B5EF4-FFF2-40B4-BE49-F238E27FC236}">
                    <a16:creationId xmlns:a16="http://schemas.microsoft.com/office/drawing/2014/main" id="{5FB53B64-2E23-F641-9D96-37263AD7A4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04402" y="6564138"/>
                <a:ext cx="1116720" cy="258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5574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kern="0" spc="-3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Текущий прогресс и следующие шаги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4112316" y="1545134"/>
            <a:ext cx="19050" cy="4518521"/>
          </a:xfrm>
          <a:prstGeom prst="roundRect">
            <a:avLst>
              <a:gd name="adj" fmla="val 49999"/>
            </a:avLst>
          </a:prstGeom>
          <a:solidFill>
            <a:srgbClr val="B3D5E4"/>
          </a:solidFill>
          <a:ln/>
        </p:spPr>
      </p:sp>
      <p:sp>
        <p:nvSpPr>
          <p:cNvPr id="4" name="Shape 2"/>
          <p:cNvSpPr/>
          <p:nvPr/>
        </p:nvSpPr>
        <p:spPr>
          <a:xfrm>
            <a:off x="3804249" y="1724918"/>
            <a:ext cx="336641" cy="19050"/>
          </a:xfrm>
          <a:prstGeom prst="roundRect">
            <a:avLst>
              <a:gd name="adj" fmla="val 49999"/>
            </a:avLst>
          </a:prstGeom>
          <a:solidFill>
            <a:srgbClr val="B3D5E4"/>
          </a:solidFill>
          <a:ln/>
        </p:spPr>
      </p:sp>
      <p:sp>
        <p:nvSpPr>
          <p:cNvPr id="5" name="Shape 3"/>
          <p:cNvSpPr/>
          <p:nvPr/>
        </p:nvSpPr>
        <p:spPr>
          <a:xfrm>
            <a:off x="4058739" y="1671340"/>
            <a:ext cx="126203" cy="126206"/>
          </a:xfrm>
          <a:prstGeom prst="ellipse">
            <a:avLst/>
          </a:prstGeom>
          <a:solidFill>
            <a:srgbClr val="D4CCFA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1602978"/>
            <a:ext cx="2787084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50" kern="0" spc="-17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650" kern="0" spc="-1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Идея и концепт проекта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61475" y="2015927"/>
            <a:ext cx="2787084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Готовы — продуман сценарий использования, определены ключевые функции и ценность продукта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02791" y="2698055"/>
            <a:ext cx="336641" cy="19050"/>
          </a:xfrm>
          <a:prstGeom prst="roundRect">
            <a:avLst>
              <a:gd name="adj" fmla="val 49999"/>
            </a:avLst>
          </a:prstGeom>
          <a:solidFill>
            <a:srgbClr val="B3D5E4"/>
          </a:solidFill>
          <a:ln/>
        </p:spPr>
      </p:sp>
      <p:sp>
        <p:nvSpPr>
          <p:cNvPr id="9" name="Shape 7"/>
          <p:cNvSpPr/>
          <p:nvPr/>
        </p:nvSpPr>
        <p:spPr>
          <a:xfrm>
            <a:off x="4058739" y="2644477"/>
            <a:ext cx="126203" cy="126206"/>
          </a:xfrm>
          <a:prstGeom prst="ellipse">
            <a:avLst/>
          </a:prstGeom>
          <a:solidFill>
            <a:srgbClr val="D4CCFA"/>
          </a:solidFill>
          <a:ln/>
        </p:spPr>
      </p:sp>
      <p:sp>
        <p:nvSpPr>
          <p:cNvPr id="10" name="Text 8"/>
          <p:cNvSpPr/>
          <p:nvPr/>
        </p:nvSpPr>
        <p:spPr>
          <a:xfrm>
            <a:off x="4795122" y="2576116"/>
            <a:ext cx="2787183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17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650" kern="0" spc="-1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Примерный интерфейс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795122" y="2989064"/>
            <a:ext cx="2787183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Сгенерирован макет — визуализация процесса генерации, паспорта фрагментов и пользовательский путь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04249" y="3592513"/>
            <a:ext cx="336641" cy="19050"/>
          </a:xfrm>
          <a:prstGeom prst="roundRect">
            <a:avLst>
              <a:gd name="adj" fmla="val 49999"/>
            </a:avLst>
          </a:prstGeom>
          <a:solidFill>
            <a:srgbClr val="B3D5E4"/>
          </a:solidFill>
          <a:ln/>
        </p:spPr>
      </p:sp>
      <p:sp>
        <p:nvSpPr>
          <p:cNvPr id="13" name="Shape 11"/>
          <p:cNvSpPr/>
          <p:nvPr/>
        </p:nvSpPr>
        <p:spPr>
          <a:xfrm>
            <a:off x="4058739" y="3538934"/>
            <a:ext cx="126203" cy="126206"/>
          </a:xfrm>
          <a:prstGeom prst="ellipse">
            <a:avLst/>
          </a:prstGeom>
          <a:solidFill>
            <a:srgbClr val="D4CCFA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3470573"/>
            <a:ext cx="2787084" cy="5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50" kern="0" spc="-17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🔜</a:t>
            </a:r>
            <a:r>
              <a:rPr lang="en-US" sz="1650" kern="0" spc="-1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Разработка MVP на кафедре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1475" y="4146550"/>
            <a:ext cx="2787084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Внедрение на нашу кафедру как пилот — обучение реранкеров и эмбеддингов на реальных данных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02791" y="4491236"/>
            <a:ext cx="336641" cy="19050"/>
          </a:xfrm>
          <a:prstGeom prst="roundRect">
            <a:avLst>
              <a:gd name="adj" fmla="val 49999"/>
            </a:avLst>
          </a:prstGeom>
          <a:solidFill>
            <a:srgbClr val="B3D5E4"/>
          </a:solidFill>
          <a:ln/>
        </p:spPr>
      </p:sp>
      <p:sp>
        <p:nvSpPr>
          <p:cNvPr id="17" name="Shape 15"/>
          <p:cNvSpPr/>
          <p:nvPr/>
        </p:nvSpPr>
        <p:spPr>
          <a:xfrm>
            <a:off x="4058739" y="4437658"/>
            <a:ext cx="126203" cy="126206"/>
          </a:xfrm>
          <a:prstGeom prst="ellipse">
            <a:avLst/>
          </a:prstGeom>
          <a:solidFill>
            <a:srgbClr val="D4CCFA"/>
          </a:solidFill>
          <a:ln/>
        </p:spPr>
      </p:sp>
      <p:sp>
        <p:nvSpPr>
          <p:cNvPr id="18" name="Text 16"/>
          <p:cNvSpPr/>
          <p:nvPr/>
        </p:nvSpPr>
        <p:spPr>
          <a:xfrm>
            <a:off x="4795122" y="4369296"/>
            <a:ext cx="2787183" cy="5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17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🚀</a:t>
            </a:r>
            <a:r>
              <a:rPr lang="en-US" sz="1650" kern="0" spc="-1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Масштабирование на другие вузы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795122" y="5045273"/>
            <a:ext cx="2787183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Выход за пределы кафедры — адаптация под другие университеты и образовательные программы</a:t>
            </a:r>
            <a:endParaRPr lang="en-US" sz="13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411" y="2035770"/>
            <a:ext cx="3537060" cy="35371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1" name="Рукописный ввод 20">
                <a:extLst>
                  <a:ext uri="{FF2B5EF4-FFF2-40B4-BE49-F238E27FC236}">
                    <a16:creationId xmlns:a16="http://schemas.microsoft.com/office/drawing/2014/main" id="{84EB0DED-032C-B833-82B0-70F72B415164}"/>
                  </a:ext>
                </a:extLst>
              </p14:cNvPr>
              <p14:cNvContentPartPr/>
              <p14:nvPr/>
            </p14:nvContentPartPr>
            <p14:xfrm>
              <a:off x="11067042" y="6569538"/>
              <a:ext cx="1010880" cy="160560"/>
            </p14:xfrm>
          </p:contentPart>
        </mc:Choice>
        <mc:Fallback>
          <p:pic>
            <p:nvPicPr>
              <p:cNvPr id="21" name="Рукописный ввод 20">
                <a:extLst>
                  <a:ext uri="{FF2B5EF4-FFF2-40B4-BE49-F238E27FC236}">
                    <a16:creationId xmlns:a16="http://schemas.microsoft.com/office/drawing/2014/main" id="{84EB0DED-032C-B833-82B0-70F72B4151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04042" y="6506538"/>
                <a:ext cx="1136520" cy="286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552"/>
            <a:ext cx="10868745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3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Финансирование: 30–45 млн ₽ на разработку и масштабирование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83110"/>
            <a:ext cx="5207465" cy="37483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9105" y="2160290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18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Куда идут инвестиции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29105" y="2634159"/>
            <a:ext cx="5207465" cy="2259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~20 млн ₽</a:t>
            </a: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разработка MVP: интерфейс, валидация гипотез, RAG-пайплайны — ключевая статья бюджета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3–4 млн ₽</a:t>
            </a: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облачные вычисления и инструменты: серверы для обучения моделей, API, базы данных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4–5 млн ₽</a:t>
            </a: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маркетинг и продажи: конференции, контакты с вузами, демо-кампания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~4 млн ₽</a:t>
            </a: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резерв на непредвиденные расходы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29105" y="5099348"/>
            <a:ext cx="5207465" cy="1013023"/>
          </a:xfrm>
          <a:prstGeom prst="roundRect">
            <a:avLst>
              <a:gd name="adj" fmla="val 27551"/>
            </a:avLst>
          </a:prstGeom>
          <a:solidFill>
            <a:srgbClr val="CDEFFE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35" y="5382022"/>
            <a:ext cx="232563" cy="186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33729" y="5310584"/>
            <a:ext cx="441681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Окупаемость в год 1–2. Масштабирование до 300 млн+ ₽ ARR к году 3.</a:t>
            </a:r>
            <a:endParaRPr lang="en-US" sz="14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9F862854-1A93-AF7D-E761-F1B70066A02D}"/>
                  </a:ext>
                </a:extLst>
              </p14:cNvPr>
              <p14:cNvContentPartPr/>
              <p14:nvPr/>
            </p14:nvContentPartPr>
            <p14:xfrm>
              <a:off x="11111682" y="6623538"/>
              <a:ext cx="955440" cy="122760"/>
            </p14:xfrm>
          </p:contentPart>
        </mc:Choice>
        <mc:Fallback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9F862854-1A93-AF7D-E761-F1B70066A02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49042" y="6560898"/>
                <a:ext cx="1081080" cy="248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45358"/>
            <a:ext cx="10868745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400" kern="0" spc="-7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Спасибо за внимание!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356682" y="401022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Давайте вместе автоматизируем образование и освободим время преподавателей для главного.</a:t>
            </a:r>
            <a:endParaRPr lang="en-US" sz="14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53A89C69-4A02-DBCA-EAC5-C1B5D5CD0991}"/>
                  </a:ext>
                </a:extLst>
              </p14:cNvPr>
              <p14:cNvContentPartPr/>
              <p14:nvPr/>
            </p14:nvContentPartPr>
            <p14:xfrm>
              <a:off x="11076042" y="6639378"/>
              <a:ext cx="1024200" cy="85320"/>
            </p14:xfrm>
          </p:contentPart>
        </mc:Choice>
        <mc:Fallback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53A89C69-4A02-DBCA-EAC5-C1B5D5CD09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13402" y="6576378"/>
                <a:ext cx="1149840" cy="210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700</Words>
  <Application>Microsoft Office PowerPoint</Application>
  <PresentationFormat>Широкоэкранный</PresentationFormat>
  <Paragraphs>97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Manrope</vt:lpstr>
      <vt:lpstr>Noto Color Emoji</vt:lpstr>
      <vt:lpstr>Manrope Bold</vt:lpstr>
      <vt:lpstr>Alexandria Medium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</dc:creator>
  <cp:lastModifiedBy>MI</cp:lastModifiedBy>
  <cp:revision>2</cp:revision>
  <dcterms:created xsi:type="dcterms:W3CDTF">2026-09-30T11:25:12Z</dcterms:created>
  <dcterms:modified xsi:type="dcterms:W3CDTF">2026-09-30T11:28:06Z</dcterms:modified>
</cp:coreProperties>
</file>